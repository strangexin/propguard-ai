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AI 金融交易工具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市场前景与战略机遇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94A3B8"/>
                </a:solidFill>
                <a:latin typeface="Arial"/>
              </a:defRPr>
            </a:pPr>
            <a:r>
              <a:t>基于近 30 天全网 420+ 条跨平台数据的深度调研</a:t>
            </a:r>
          </a:p>
          <a:p>
            <a:pPr>
              <a:spcAft>
                <a:spcPts val="600"/>
              </a:spcAft>
              <a:defRPr sz="1400" b="0">
                <a:solidFill>
                  <a:srgbClr val="94A3B8"/>
                </a:solidFill>
                <a:latin typeface="Arial"/>
              </a:defRPr>
            </a:pPr>
            <a:r>
              <a:t>数据来源：Reddit / X / TikTok / Instagram / HN / GitHub / Web / Polymarket</a:t>
            </a:r>
          </a:p>
          <a:p>
            <a:pPr>
              <a:spcAft>
                <a:spcPts val="600"/>
              </a:spcAft>
              <a:defRPr sz="10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2026 年 4 月 13 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市场正在发生什么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38BDF8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的外汇日交易量已由 AI 交易机器人驱动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Arial"/>
              </a:defRPr>
            </a:pPr>
            <a:r>
              <a:t>日均交易量 9.6 万亿美元  |  来源：@DataconomyMedia, 2026-04-12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943600"/>
            <a:ext cx="5486400" cy="13716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60350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Claude AI Bot</a:t>
            </a:r>
          </a:p>
          <a:p>
            <a:pPr>
              <a:spcAft>
                <a:spcPts val="600"/>
              </a:spcAft>
              <a:defRPr sz="2000" b="1">
                <a:solidFill>
                  <a:srgbClr val="4ADE80"/>
                </a:solidFill>
                <a:latin typeface="Arial"/>
              </a:defRPr>
            </a:pPr>
            <a:r>
              <a:t>Polymarket: $1 → $330 万</a:t>
            </a:r>
          </a:p>
          <a:p>
            <a:pPr>
              <a:spcAft>
                <a:spcPts val="60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来源: Hacker News / finbold.com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5943600"/>
            <a:ext cx="5486400" cy="13716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60350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中国程序员 AI Bot</a:t>
            </a:r>
          </a:p>
          <a:p>
            <a:pPr>
              <a:spcAft>
                <a:spcPts val="600"/>
              </a:spcAft>
              <a:defRPr sz="2000" b="1">
                <a:solidFill>
                  <a:srgbClr val="4ADE80"/>
                </a:solidFill>
                <a:latin typeface="Arial"/>
              </a:defRPr>
            </a:pPr>
            <a:r>
              <a:t>每 15 分钟数万笔 BTC 交易</a:t>
            </a:r>
          </a:p>
          <a:p>
            <a:pPr>
              <a:spcAft>
                <a:spcPts val="600"/>
              </a:spcAft>
              <a:defRPr sz="1100" b="0">
                <a:solidFill>
                  <a:srgbClr val="94A3B8"/>
                </a:solidFill>
                <a:latin typeface="Arial"/>
              </a:defRPr>
            </a:pPr>
            <a:r>
              <a:t>来源: TikTok @finalrender_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2026 年 AI 交易生态：六大热门赛道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17373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自然语言策略生成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600200"/>
            <a:ext cx="128016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极强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代表产品：Horizon AI / Robonet / Superior Trade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63040"/>
            <a:ext cx="6400800" cy="17373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600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AI 自动化交易 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0" y="1600200"/>
            <a:ext cx="128016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极强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031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代表产品：Pips Connect / AlgoAiden / Agent-Kai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6400800" cy="17373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AI 交易日记 &amp; 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3611880"/>
            <a:ext cx="1280160" cy="3657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代表产品：TradeDeck / TradesViz / LunarLog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474720"/>
            <a:ext cx="6400800" cy="17373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回测可视化工具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611880"/>
            <a:ext cx="1280160" cy="3657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中强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代表产品：MarketFlux / nautilus_trader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6400800" cy="17373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跨平台信号复制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5623560"/>
            <a:ext cx="128016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61264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代表产品：Telegram Signal Copier / ConnectXCopy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5486400"/>
            <a:ext cx="6400800" cy="173736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623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DeFi / 链上自动化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0" y="5623560"/>
            <a:ext cx="128016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增长中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61264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rial"/>
              </a:defRPr>
            </a:pPr>
            <a:r>
              <a:t>代表产品：Hyperliquid 生态 / go-trader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Arial"/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传统交易 vs AI 交易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Arial"/>
              </a:defRPr>
            </a:pPr>
            <a:r>
              <a:t>从手动盯盘到 AI 自主决策的范式转变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传统交易平台的六大痛点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297680" cy="2743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64592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平台割裂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6+ 平台 API 互不相通</a:t>
            </a:r>
            <a:br/>
            <a:r>
              <a:t>MT4/MT5/cTrader/TradeLocker/DXTrade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566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来源: @connectxcopy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9" y="1371600"/>
            <a:ext cx="4297680" cy="2743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399" y="164592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编码门槛高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399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策略自动化需学 MQL5/C#/Pine</a:t>
            </a:r>
            <a:br/>
            <a:r>
              <a:t>非程序员被拒之门外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399" y="3566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来源: fortraders.com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19" y="1371600"/>
            <a:ext cx="4297680" cy="2743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49840" y="164592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19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手动操作多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2860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盯盘、录日记、算仓位</a:t>
            </a:r>
            <a:br/>
            <a:r>
              <a:t>交易者疲于应付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566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来源: TradeDeck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72000"/>
            <a:ext cx="4297680" cy="2743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84632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信息过载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4864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交易者花一半时间</a:t>
            </a:r>
            <a:br/>
            <a:r>
              <a:t>理解市场在发生什么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6766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来源: @labtrade_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9" y="4572000"/>
            <a:ext cx="4297680" cy="2743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399" y="484632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情绪化决策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54864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恐惧与贪婪导致</a:t>
            </a:r>
            <a:br/>
            <a:r>
              <a:t>非理性交易行为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6766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来源: innotechtoday.com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19" y="4572000"/>
            <a:ext cx="4297680" cy="2743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49840" y="4846320"/>
            <a:ext cx="457200" cy="4572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19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学习曲线陡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54864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换个平台就不会用</a:t>
            </a:r>
            <a:br/>
            <a:r>
              <a:t>因此挂掉挑战账户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6766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来源: @fortunemmxm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AI 交易 vs 传统交易：六维度对比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1887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365760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 方式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提升幅度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策略创建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学编程语言 (MQL5/C#)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自然语言描述即可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门槛降低 90%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交易执行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手动下单 / 简单 EA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Agent 24/7 自主决策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效率 x10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风险管理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手动设止损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动态仓位 + 自动风控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纪律性 x5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交易复盘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手动录入日记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截图识别 + AI 自动分析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耗时减少 80%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市场分析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看图表、读新闻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盘前简报 + 实时信号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覆盖面 x20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跨平台管理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分别登录各平台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一个 API 聚合 20+ 经纪商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统一管理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AI 交易的三大核心优势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2976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94560" y="2011680"/>
            <a:ext cx="1371600" cy="13716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F172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去编程化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用自然语言描述策略</a:t>
            </a:r>
            <a:br/>
            <a:r>
              <a:t>AI 自动生成可执行逻辑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Horizon AI / TradeLocker</a:t>
            </a:r>
            <a:br/>
            <a:r>
              <a:t>Robonet prompt-to-quant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59" y="1645920"/>
            <a:ext cx="42976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2011680"/>
            <a:ext cx="1371600" cy="13716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F1729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36576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去情绪化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79" y="42976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AI 不会恐惧也不会贪婪</a:t>
            </a:r>
            <a:br/>
            <a:r>
              <a:t>严格执行策略纪律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5486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多个 AI Bot 核心卖点</a:t>
            </a:r>
            <a:br/>
            <a:r>
              <a:t>减少人为非理性决策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1645920"/>
            <a:ext cx="42976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521440" y="2011680"/>
            <a:ext cx="1371600" cy="13716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0F1729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6576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去人工化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42976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不到 1 小时构建 Bot</a:t>
            </a:r>
            <a:br/>
            <a:r>
              <a:t>24/7 全自动运行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486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TikTok @markus864</a:t>
            </a:r>
            <a:br/>
            <a:r>
              <a:t>Claude Code 构建 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Arial"/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竞争格局深度分析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Arial"/>
              </a:defRPr>
            </a:pPr>
            <a:r>
              <a:t>外汇经纪商 / 加密交易所 / AI 工具 / 开源生态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外汇赛道：经纪商 &amp; 平台格局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数据来源: ForexBrokers.com, 55brokers.com, AquaFutures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2801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560320"/>
                <a:gridCol w="2286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生态成熟度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自动化语言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自然语言策略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 Firm 采用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MT5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最成熟，EA 商城丰富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MQL5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广泛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cTrader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中等，cAlgo 生态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C# / cAlgo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不支持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增长中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TradeLocker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新兴，快速增长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Pine Script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支持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24 家已采用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rial"/>
              </a:defRPr>
            </a:pPr>
            <a:r>
              <a:t>主流经纪商 API 能力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389120"/>
          <a:ext cx="12801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41148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经纪商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API 类型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适合场景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Interactive Brokers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TWS API / REST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最全面，多资产，低延迟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专业量化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OANDA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REST API v20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文档优秀，易于集成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Bot 开发入门首选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Saxo Bank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OpenAPI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机构级，多资产类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高端客户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FxPro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MT4/MT5/cTrader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跨平台同一点差佣金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灵活选择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加密货币赛道：交易所费率对比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数据来源: ventureburn.com, @reboundx_net, plisio.net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1795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645920"/>
                <a:gridCol w="1645920"/>
                <a:gridCol w="164592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交易所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用户量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Maker 费率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Taker 费率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返佣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Binance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2 亿+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0.012%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0.024%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40%+10%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全球最大，流动性最好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OKX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大量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0.009%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0.0225%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55%+10%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费率最低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Bybit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大量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0.013%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0.0286%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35%+10%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合约交易强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Coinbase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 亿+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较高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较高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美国合规首选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Kraken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专业交易者，API 强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3167360" cy="2560320"/>
          </a:xfrm>
          <a:prstGeom prst="roundRect">
            <a:avLst/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rial"/>
              </a:defRPr>
            </a:pPr>
            <a:r>
              <a:t>Hyperliquid — DeFi 交易新星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链上订单簿，接近 CEX 体验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无需 KYC，Agent Wallet 机制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支持多腿策略、跨资产风控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官方 Python SDK + 开源 Copy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6692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Polymarket 预测</a:t>
            </a:r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登陆 Binance 概率: 32%</a:t>
            </a:r>
          </a:p>
          <a:p>
            <a:pPr>
              <a:spcAft>
                <a:spcPts val="600"/>
              </a:spcAft>
              <a:defRPr sz="6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F87171"/>
                </a:solidFill>
                <a:latin typeface="Arial"/>
              </a:defRPr>
            </a:pPr>
            <a:r>
              <a:t>安全警告: MEV 三明治攻击每天数千次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AI 交易工具竞品矩阵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按 用户类型 x 功能方向 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rial"/>
              </a:defRPr>
            </a:pPr>
            <a:r>
              <a:t>分析工具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7315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rial"/>
              </a:defRPr>
            </a:pPr>
            <a:r>
              <a:t>自动执行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零代码</a:t>
            </a:r>
            <a:br/>
            <a:r>
              <a:t>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Arial"/>
              </a:defRPr>
            </a:pPr>
            <a:r>
              <a:t>开发者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463040"/>
            <a:ext cx="576072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60020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Arial"/>
              </a:defRPr>
            </a:pPr>
            <a:r>
              <a:t>零代码 + 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TradeDeck (AI 截图识别)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14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TradesViz (AI 盘前分析)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LunarLog / Profit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463040"/>
            <a:ext cx="576072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60020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Arial"/>
              </a:defRPr>
            </a:pPr>
            <a:r>
              <a:t>开发者 + 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Kavout (AI 金融研究)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514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Rafa.ai (投资组合 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TrendSpider (技术分析)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572000"/>
            <a:ext cx="576072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70916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Arial"/>
              </a:defRPr>
            </a:pPr>
            <a:r>
              <a:t>零代码 + 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20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Pips Connect (2500+ Bot)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6235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AlgoAiden (自改进 Bot)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61264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BullGPT / Horizon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6629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Arial"/>
              </a:defRPr>
            </a:pPr>
            <a:r>
              <a:t>  竞争最激烈，无明确赢家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572000"/>
            <a:ext cx="576072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470916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D3EE"/>
                </a:solidFill>
                <a:latin typeface="Arial"/>
              </a:defRPr>
            </a:pPr>
            <a:r>
              <a:t>开发者 + 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120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Robonet (prompt-to-quant)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6235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AI-Trader (开源全自动)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61264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rial"/>
              </a:defRPr>
            </a:pPr>
            <a:r>
              <a:t>  Agent-Kai (自学习终端)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交易日记 &amp; 分析工具竞品对比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292608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核心亮点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差异化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TradeDeck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截图识别交易记录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最创新的录入方式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X @tradedeckapp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TradesViz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盘前分析 + 持续升级 UI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分析深度最强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X @tradesviz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TradeLens Pro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问答: "哪个策略胜率最高?"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唯一平价 AI ($12.50/月)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tradelens.vip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Tradezella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全功能一站式日记系统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功能最全面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TikTok 推广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Traderwaves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自动跟踪，免费起步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最低使用门槛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Trustpilot 好评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LunarLog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交易日记 (新产品)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TikTok 热推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TikTok @moonboy_matt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Rafa.ai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投资组合分析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上传即分析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X @fenrirnft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486400"/>
            <a:ext cx="13167360" cy="1828800"/>
          </a:xfrm>
          <a:prstGeom prst="roundRect">
            <a:avLst/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关键洞察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188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"你的交易日记是你最被低估的工具" — @optiondrops (X)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Traderwaves 用户: "every trader that hates manual journal input" — Trustpilot</a:t>
            </a:r>
          </a:p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  <a:latin typeface="Arial"/>
              </a:defRPr>
            </a:pPr>
            <a:r>
              <a:t>有交易者在用 AI 自建日记工具 — 说明现有产品仍有不足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开发者工具链 &amp; 开源生态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Arial"/>
              </a:defRPr>
            </a:pPr>
            <a:r>
              <a:t>构建 AI 交易 Bot 的门槛已大幅降低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2801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685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CCXT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统一交易所 API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100+ 交易所，一套代码适配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TradingView Charts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前端 K 线图表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轻量级，开源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Hyperliquid SDK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DEX 接口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官方 Python SDK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AI-Trader (HKUDS)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全自动 Agent 交易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开源，兼容 Binance/Coinbase/IB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Claude API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策略解析 / 分析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自然语言理解 + 代码生成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Connect Trade API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统一经纪商接口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一个 API 连接 20+ 合规经纪商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03520"/>
            <a:ext cx="13167360" cy="2286000"/>
          </a:xfrm>
          <a:prstGeom prst="roundRect">
            <a:avLst/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实际构建案例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8521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Claude Code 交易 Bot — 不到 1 小时</a:t>
            </a:r>
          </a:p>
          <a:p>
            <a:pPr>
              <a:spcAft>
                <a:spcPts val="600"/>
              </a:spcAft>
              <a:defRPr sz="1200" b="0">
                <a:solidFill>
                  <a:srgbClr val="CBD5E1"/>
                </a:solidFill>
                <a:latin typeface="Arial"/>
              </a:defRPr>
            </a:pPr>
            <a:r>
              <a:t>@markus864: $200 压力测试，目标月增 3-10%</a:t>
            </a:r>
          </a:p>
          <a:p>
            <a:pPr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7 交易所套利扫描器 — 拒绝付 $29/月</a:t>
            </a:r>
          </a:p>
          <a:p>
            <a:pPr>
              <a:spcAft>
                <a:spcPts val="600"/>
              </a:spcAft>
              <a:defRPr sz="1200" b="0">
                <a:solidFill>
                  <a:srgbClr val="CBD5E1"/>
                </a:solidFill>
                <a:latin typeface="Arial"/>
              </a:defRPr>
            </a:pPr>
            <a:r>
              <a:t>DEV Community: 覆盖 3700 个 USDT 永续合约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8521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Hyperliquid Perp Bot + TUI Dashboard</a:t>
            </a:r>
          </a:p>
          <a:p>
            <a:pPr>
              <a:spcAft>
                <a:spcPts val="600"/>
              </a:spcAft>
              <a:defRPr sz="1200" b="0">
                <a:solidFill>
                  <a:srgbClr val="CBD5E1"/>
                </a:solidFill>
                <a:latin typeface="Arial"/>
              </a:defRPr>
            </a:pPr>
            <a:r>
              <a:t>GitHub: 完整均值回归策略实现</a:t>
            </a:r>
          </a:p>
          <a:p>
            <a:pPr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自定义算法交易 + Angel One 直连</a:t>
            </a:r>
          </a:p>
          <a:p>
            <a:pPr>
              <a:spcAft>
                <a:spcPts val="600"/>
              </a:spcAft>
              <a:defRPr sz="1200" b="0">
                <a:solidFill>
                  <a:srgbClr val="CBD5E1"/>
                </a:solidFill>
                <a:latin typeface="Arial"/>
              </a:defRPr>
            </a:pPr>
            <a:r>
              <a:t>Instagram: 无第三方依赖的自建图表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Arial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机遇与风险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Arial"/>
              </a:defRPr>
            </a:pPr>
            <a:r>
              <a:t>五个切入方向 / 市场亮点 / 核心挑战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五个可切入的方向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2801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2286000"/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开发周期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预计 MRR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技术难度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推荐指数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自然语言策略生成器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4-6 周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$29-99/用户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中高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最大机会 ★★★★★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交易日记 (截图识别)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2-3 周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$15-30/用户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最快启动 ★★★★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跨平台交易聚合器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6-8 周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$39/用户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壁垒最深 ★★★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Telegram 信号 Bot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1-2 周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$19-49/用户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最快变现 ★★★★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量化回测可视化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3-4 周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$25/用户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技术型 ★★★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029200"/>
            <a:ext cx="6400800" cy="2560320"/>
          </a:xfrm>
          <a:prstGeom prst="roundRect">
            <a:avLst/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推荐首选: Telegram 信号 Bot</a:t>
            </a:r>
          </a:p>
          <a:p>
            <a:pPr>
              <a:spcAft>
                <a:spcPts val="600"/>
              </a:spcAft>
              <a:defRPr sz="4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开发最快 (1-2 周)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需求明确，付费意愿强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法律风险低 (工具定位)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Telegram Signal Copier 已验证市场: 90,000+ 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5029200"/>
            <a:ext cx="6400800" cy="2560320"/>
          </a:xfrm>
          <a:prstGeom prst="roundRect">
            <a:avLst/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51206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最大机会: 自然语言策略生成</a:t>
            </a:r>
          </a:p>
          <a:p>
            <a:pPr>
              <a:spcAft>
                <a:spcPts val="600"/>
              </a:spcAft>
              <a:defRPr sz="4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市场天花板最高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多个竞品但无明确赢家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需要更多打磨时间 (4-6 周)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Horizon AI / Robonet / Superior Trade 均在赛道中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为什么现在是最佳时机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194560"/>
            <a:ext cx="914400" cy="9144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729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AI 编码工具爆发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Vibe coding 使 App Store</a:t>
            </a:r>
            <a:br/>
            <a:r>
              <a:t>提交量增长 30%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60520" y="2194560"/>
            <a:ext cx="914400" cy="914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729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成功先例已有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Solo founder 29 天</a:t>
            </a:r>
            <a:br/>
            <a:r>
              <a:t>$953 收入，$0 营销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82880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9440" y="2194560"/>
            <a:ext cx="914400" cy="914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729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基础设施成熟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CCXT + Claude API +</a:t>
            </a:r>
            <a:br/>
            <a:r>
              <a:t>Supabase 一站式就绪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182880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38359" y="2194560"/>
            <a:ext cx="914400" cy="9144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729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竞争窗口期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多个赛道有玩家</a:t>
            </a:r>
            <a:br/>
            <a:r>
              <a:t>但无明确赢家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704319" y="1828800"/>
            <a:ext cx="2560320" cy="41148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527280" y="2194560"/>
            <a:ext cx="914400" cy="914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F1729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41480" y="33832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付费意愿强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41480" y="42062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交易者习惯为工具付费</a:t>
            </a:r>
            <a:br/>
            <a:r>
              <a:t>$12.50-$99/月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风险与挑战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29768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59" y="1600200"/>
            <a:ext cx="109728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法律合规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佛罗里达州调查 OpenAI</a:t>
            </a:r>
            <a:br/>
            <a:r>
              <a:t>AI + 金融监管趋严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Arial"/>
              </a:defRPr>
            </a:pPr>
            <a:r>
              <a:t>应对: 需标注"非投资建议"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9" y="1371600"/>
            <a:ext cx="429768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399" y="1600200"/>
            <a:ext cx="10972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技术维护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399" y="210312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Vibe coding 第 3 个月</a:t>
            </a:r>
            <a:br/>
            <a:r>
              <a:t>面临维护困难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399" y="3383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Arial"/>
              </a:defRPr>
            </a:pPr>
            <a:r>
              <a:t>应对: MVP 验证后重构核心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19" y="1371600"/>
            <a:ext cx="429768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49840" y="1600200"/>
            <a:ext cx="10972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虚假宣传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10312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"月收益 10%" 等不实承诺</a:t>
            </a:r>
            <a:br/>
            <a:r>
              <a:t>与骗局产品混淆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3832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Arial"/>
              </a:defRPr>
            </a:pPr>
            <a:r>
              <a:t>应对: 以工具定位拉开差距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429768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4983480"/>
            <a:ext cx="109728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MEV 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486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DeFi 三明治攻击</a:t>
            </a:r>
            <a:br/>
            <a:r>
              <a:t>每天发生数千次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6766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Arial"/>
              </a:defRPr>
            </a:pPr>
            <a:r>
              <a:t>应对: 链上交易需防范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79" y="4754880"/>
            <a:ext cx="429768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399" y="4983480"/>
            <a:ext cx="10972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API 依赖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399" y="5486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交易所/经纪商 API</a:t>
            </a:r>
            <a:br/>
            <a:r>
              <a:t>可能随时变更限流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399" y="6766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Arial"/>
              </a:defRPr>
            </a:pPr>
            <a:r>
              <a:t>应对: 多源冗余设计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19" y="4754880"/>
            <a:ext cx="4297680" cy="292608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49840" y="4983480"/>
            <a:ext cx="10972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9"/>
                </a:solidFill>
              </a:defRPr>
            </a:pPr>
            <a:r>
              <a:t>竞争加速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5486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rial"/>
              </a:defRPr>
            </a:pPr>
            <a:r>
              <a:t>市场热度高</a:t>
            </a:r>
            <a:br/>
            <a:r>
              <a:t>新进入者不断涌入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6766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Arial"/>
              </a:defRPr>
            </a:pPr>
            <a:r>
              <a:t>应对: 速度是最好的壁垒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推荐行动方案：两步走策略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0" cy="5943600"/>
          </a:xfrm>
          <a:prstGeom prst="roundRect">
            <a:avLst/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2286000" cy="4572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9"/>
                </a:solidFill>
              </a:defRPr>
            </a:pPr>
            <a:r>
              <a:t>第一步: 快速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rial"/>
              </a:defRPr>
            </a:pPr>
            <a:r>
              <a:t>0 - 4 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产品选择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Telegram 信号 Bot 或 AI 交易日记</a:t>
            </a:r>
          </a:p>
          <a:p>
            <a:pPr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技术栈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Claude Code + Supabase + Vercel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Python (FastAPI) + Stripe</a:t>
            </a:r>
          </a:p>
          <a:p>
            <a:pPr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里程碑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第 1 周: 框架搭建 + 核心功能原型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第 2 周: AI 集成 + 基础 UI + 内测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第 3 周: 支付集成 + Landing Page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第 4 周: Product Hunt 发布</a:t>
            </a:r>
          </a:p>
          <a:p>
            <a:pPr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4ADE80"/>
                </a:solidFill>
                <a:latin typeface="Arial"/>
              </a:defRPr>
            </a:pPr>
            <a:r>
              <a:t>目标: 验证需求，获取前 100 个用户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6400800" cy="5943600"/>
          </a:xfrm>
          <a:prstGeom prst="roundRect">
            <a:avLst/>
          </a:prstGeom>
          <a:solidFill>
            <a:srgbClr val="14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554480"/>
            <a:ext cx="2560320" cy="4572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9"/>
                </a:solidFill>
              </a:defRPr>
            </a:pPr>
            <a:r>
              <a:t>第二步: 核心产品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1 - 3 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860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产品升级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转向自然语言策略生成器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复用 MVP 阶段用户反馈和技术积累</a:t>
            </a:r>
          </a:p>
          <a:p>
            <a:pPr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营销渠道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1. Reddit (r/Daytrading, r/algotrading)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2. TikTok (AI 交易内容热度最高)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3. X/Twitter (金融科技创作者)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4. Product Hunt (首发)</a:t>
            </a:r>
          </a:p>
          <a:p>
            <a:pPr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目标: $5K MRR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总结：三个核心判断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2976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2286000"/>
            <a:ext cx="2103120" cy="13716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0F1729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319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AI 交易不是未来</a:t>
            </a:r>
            <a:br/>
            <a:r>
              <a:t>是现在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035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85% 外汇交易量</a:t>
            </a:r>
            <a:br/>
            <a:r>
              <a:t>已由 AI 驱动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59" y="1828800"/>
            <a:ext cx="42976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2286000"/>
            <a:ext cx="2103120" cy="137160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0F1729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79" y="39319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工具型产品</a:t>
            </a:r>
            <a:br/>
            <a:r>
              <a:t>最安全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53035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做工具不做决策</a:t>
            </a:r>
            <a:br/>
            <a:r>
              <a:t>规避法律风险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828800"/>
            <a:ext cx="4297680" cy="5029200"/>
          </a:xfrm>
          <a:prstGeom prst="roundRect">
            <a:avLst/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55680" y="2286000"/>
            <a:ext cx="2103120" cy="13716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0F1729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39319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窗口期有限</a:t>
            </a:r>
            <a:br/>
            <a:r>
              <a:t>2026 是最佳进入时间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53035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等待即是被淘汰</a:t>
            </a:r>
            <a:br/>
            <a:r>
              <a:t>速度是最好的壁垒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附录：数据来源与方法论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调研工具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last30days v3.0.0 跨平台数据聚合引擎</a:t>
            </a:r>
          </a:p>
          <a:p>
            <a:pPr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数据范围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2026-03-14 至 2026-04-13（近 30 天）</a:t>
            </a:r>
          </a:p>
          <a:p>
            <a:pPr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总证据量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420+ 条原始证据，经 AI 去重、排序、聚类</a:t>
            </a:r>
          </a:p>
          <a:p>
            <a:pPr>
              <a:spcAft>
                <a:spcPts val="600"/>
              </a:spcAft>
              <a:defRPr sz="800" b="0">
                <a:solidFill>
                  <a:srgbClr val="94A3B8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搜索轮次</a:t>
            </a:r>
          </a:p>
          <a:p>
            <a:pPr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8 轮并行搜索，覆盖 4 个维度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覆盖平台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Reddit      — 社区讨论与用户反馈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X/Twitter   — 实时行业动态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TikTok      — 创作者生态 (热度最高)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Instagram   — 视觉化内容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GitHub      — 开源项目与技术趋势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Brave Web   — 专业文章与评测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Hacker News — 技术社区观点</a:t>
            </a:r>
          </a:p>
          <a:p>
            <a:pPr>
              <a:spcAft>
                <a:spcPts val="600"/>
              </a:spcAft>
              <a:defRPr sz="1300" b="0">
                <a:solidFill>
                  <a:srgbClr val="CBD5E1"/>
                </a:solidFill>
                <a:latin typeface="Arial"/>
              </a:defRPr>
            </a:pPr>
            <a:r>
              <a:t>Polymarket  — 预测市场信号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关键参考链接 (Top 10)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486400"/>
          <a:ext cx="12801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来源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标题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链接</a:t>
                      </a:r>
                    </a:p>
                  </a:txBody>
                  <a:tcPr>
                    <a:solidFill>
                      <a:srgbClr val="1E2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@DataconomyMedia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bots 驱动 85% 外汇交易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x.com/DataconomyMedia/status/2043207538875802067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ForexBrokers.com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7 Best Forex Trading APIs 2026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forexbrokers.com/guides/best-api-brokers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ventureburn.com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12 Crypto Exchanges Lowest Fees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ventureburn.com/crypto-exchange-with-lowest-fees/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hiperwire.io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Trading Bots on Hyperliquid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hiperwire.io/explainers/ai-trading-bots-agents-hyperliquid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fortraders.com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AI Trading Tools That Work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fortraders.com/blog/ai-trading-tools-work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@RoundtableSpace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Trading GitHub 开发者资源清单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x.com/RoundtableSpace/status/2043369805495906756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finbold.com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Claude Bot: $1 → $3.3M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finbold.com/claude-ai-powered-trading-bot-turns-1-into-3-3-million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DEV Community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7 交易所套利扫描器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dev.to/foxyyybusiness/...funding-rate-arbitrage-scanner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tradelens.vip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Best Trade Journal Apps 对比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tradelens.vip/resources/best-trade-journal-apps</a:t>
                      </a:r>
                    </a:p>
                  </a:txBody>
                  <a:tcPr>
                    <a:solidFill>
                      <a:srgbClr val="1620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Fortune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Cursor CEO: Vibe Coding 警告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Arial"/>
                        </a:defRPr>
                      </a:pPr>
                      <a:r>
                        <a:t>fortune.com/article/cursor-ceo-vibe-coding-warning</a:t>
                      </a:r>
                    </a:p>
                  </a:txBody>
                  <a:tcPr>
                    <a:solidFill>
                      <a:srgbClr val="131C3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258800" y="7589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rial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